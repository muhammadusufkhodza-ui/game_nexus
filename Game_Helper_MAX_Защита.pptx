
<file path=[Content_Types].xml><?xml version="1.0" encoding="utf-8"?>
<Types xmlns="http://schemas.openxmlformats.org/package/2006/content-types"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88825" cy="6858000"/>
  <p:notesSz cx="6858000" cy="121888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Google Shape;14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" name="Google Shape;28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Google Shape;43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" name="Google Shape;63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" name="Google Shape;75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microsoft.com/office/2007/relationships/media" Target="../media/media1.mp3"/><Relationship Id="rId2" Type="http://schemas.openxmlformats.org/officeDocument/2006/relationships/audio" Target="../media/media1.mp3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" name="Google Shape;17;p1"/>
          <p:cNvSpPr/>
          <p:nvPr/>
        </p:nvSpPr>
        <p:spPr>
          <a:xfrm>
            <a:off x="10789920" y="448056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" name="Google Shape;18;p1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Calibri" panose="020F0502020204030204"/>
              <a:buNone/>
            </a:pPr>
            <a:r>
              <a:rPr lang="en-US" sz="1500" b="1" i="0" u="none" strike="noStrike" cap="none">
                <a:solidFill>
                  <a:srgbClr val="22D3E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МОЙ ФИНАЛЬНЫЙ ПРОЕКТ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2194560"/>
            <a:ext cx="8595360" cy="1463040"/>
          </a:xfrm>
          <a:prstGeom prst="roundRect">
            <a:avLst>
              <a:gd name="adj" fmla="val 6250"/>
            </a:avLst>
          </a:prstGeom>
          <a:solidFill>
            <a:srgbClr val="2A2660"/>
          </a:solidFill>
          <a:ln w="22225" cap="flat" cmpd="sng">
            <a:solidFill>
              <a:srgbClr val="7C3AE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Google Shape;20;p1"/>
          <p:cNvSpPr txBox="1"/>
          <p:nvPr/>
        </p:nvSpPr>
        <p:spPr>
          <a:xfrm>
            <a:off x="868680" y="2122085"/>
            <a:ext cx="81381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3600"/>
              <a:buFont typeface="Calibri" panose="020F0502020204030204"/>
              <a:buNone/>
            </a:pPr>
            <a:r>
              <a:rPr lang="en-US" sz="3600" b="1" i="0" u="none" strike="noStrike" cap="none">
                <a:solidFill>
                  <a:srgbClr val="C7D2F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 </a:t>
            </a:r>
            <a:r>
              <a:rPr lang="en-US" sz="3600" b="1">
                <a:solidFill>
                  <a:srgbClr val="C7D2F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Game Helper MAX</a:t>
            </a:r>
            <a:r>
              <a:rPr lang="en-US" sz="3600" b="1" i="0" u="none" strike="noStrike" cap="none">
                <a:solidFill>
                  <a:srgbClr val="C7D2F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]</a:t>
            </a:r>
            <a:endParaRPr sz="3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3931920"/>
            <a:ext cx="5852160" cy="777240"/>
          </a:xfrm>
          <a:prstGeom prst="roundRect">
            <a:avLst>
              <a:gd name="adj" fmla="val 11765"/>
            </a:avLst>
          </a:prstGeom>
          <a:solidFill>
            <a:srgbClr val="2A2660"/>
          </a:solidFill>
          <a:ln w="22225" cap="flat" cmpd="sng">
            <a:solidFill>
              <a:srgbClr val="7C3AE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" name="Google Shape;22;p1"/>
          <p:cNvSpPr txBox="1"/>
          <p:nvPr/>
        </p:nvSpPr>
        <p:spPr>
          <a:xfrm>
            <a:off x="868680" y="3931920"/>
            <a:ext cx="55778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2000"/>
              <a:buFont typeface="Calibri" panose="020F0502020204030204"/>
              <a:buNone/>
            </a:pPr>
            <a:r>
              <a:rPr lang="en-US" sz="2000" b="0" i="0" u="none" strike="noStrike" cap="none">
                <a:solidFill>
                  <a:srgbClr val="C7D2F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 </a:t>
            </a:r>
            <a:r>
              <a:rPr lang="en-US" sz="2000">
                <a:solidFill>
                  <a:srgbClr val="C7D2F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Юсуфходжа Шарипов</a:t>
            </a:r>
            <a:r>
              <a:rPr lang="en-US" sz="2000" b="0" i="0" u="none" strike="noStrike" cap="none">
                <a:solidFill>
                  <a:srgbClr val="C7D2F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]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3" name="Google Shape;23;p1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58368" y="56235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 txBox="1"/>
          <p:nvPr/>
        </p:nvSpPr>
        <p:spPr>
          <a:xfrm>
            <a:off x="1234440" y="55778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500"/>
              <a:buFont typeface="Calibri" panose="020F0502020204030204"/>
              <a:buNone/>
            </a:pPr>
            <a:r>
              <a:rPr lang="en-US" sz="1500" b="0" i="1" u="none" strike="noStrike" cap="none">
                <a:solidFill>
                  <a:srgbClr val="A5B4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Меняй только текст в скобках [ … ]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miromaxmusic-technology-presentation-tech-music-498760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1620" y="6126480"/>
            <a:ext cx="309880" cy="309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9" dur="12410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" numSld="999" showWhenStopped="0">
                <p:cTn id="10" repeatCount="indefinite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1EE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1" name="Google Shape;31;p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7240" y="7772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 txBox="1"/>
          <p:nvPr/>
        </p:nvSpPr>
        <p:spPr>
          <a:xfrm>
            <a:off x="1645920" y="50292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400"/>
              <a:buFont typeface="Calibri" panose="020F0502020204030204"/>
              <a:buNone/>
            </a:pPr>
            <a:r>
              <a:rPr lang="en-US" sz="3400" b="1" i="0" u="none" strike="noStrike" cap="none">
                <a:solidFill>
                  <a:srgbClr val="312E8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О чём проект</a:t>
            </a:r>
            <a:endParaRPr sz="3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1673352" y="123444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1600"/>
              <a:buFont typeface="Calibri" panose="020F0502020204030204"/>
              <a:buNone/>
            </a:pPr>
            <a:r>
              <a:rPr lang="en-US" sz="1600" b="0" i="1" u="none" strike="noStrike" cap="none">
                <a:solidFill>
                  <a:srgbClr val="6B678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Одно простое предложение — что и зачем предсказываешь.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21945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 cap="flat" cmpd="sng">
            <a:solidFill>
              <a:srgbClr val="B7ADE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" name="Google Shape;35;p2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2200"/>
              <a:buFont typeface="Calibri" panose="020F0502020204030204"/>
              <a:buNone/>
            </a:pPr>
            <a:r>
              <a:rPr lang="en-US" sz="2200" b="0" i="1" u="none" strike="noStrike" cap="none">
                <a:solidFill>
                  <a:srgbClr val="6B678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Я предсказываю [</a:t>
            </a:r>
            <a:r>
              <a:rPr lang="en-US" sz="2200" i="1">
                <a:solidFill>
                  <a:srgbClr val="6B678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уровень знаний игрока и слабую тему</a:t>
            </a:r>
            <a:r>
              <a:rPr lang="en-US" sz="2200" b="0" i="1" u="none" strike="noStrike" cap="none">
                <a:solidFill>
                  <a:srgbClr val="6B678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] по [результатам викторин и статистике игрока].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374904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 cap="flat" cmpd="sng">
            <a:solidFill>
              <a:srgbClr val="B7ADE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2"/>
          <p:cNvSpPr txBox="1"/>
          <p:nvPr/>
        </p:nvSpPr>
        <p:spPr>
          <a:xfrm>
            <a:off x="822960" y="3749040"/>
            <a:ext cx="4846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2000"/>
              <a:buFont typeface="Calibri" panose="020F0502020204030204"/>
              <a:buNone/>
            </a:pPr>
            <a:r>
              <a:rPr lang="en-US" sz="2000" b="0" i="1" u="none" strike="noStrike" cap="none">
                <a:solidFill>
                  <a:srgbClr val="6B678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Тип: [</a:t>
            </a:r>
            <a:r>
              <a:rPr lang="en-US" sz="2000" i="1">
                <a:solidFill>
                  <a:srgbClr val="6B678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Классификация</a:t>
            </a:r>
            <a:r>
              <a:rPr lang="en-US" sz="2000" b="0" i="1" u="none" strike="noStrike" cap="none">
                <a:solidFill>
                  <a:srgbClr val="6B678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]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217920" y="3749040"/>
            <a:ext cx="5394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 cap="flat" cmpd="sng">
            <a:solidFill>
              <a:srgbClr val="B7ADE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2"/>
          <p:cNvSpPr txBox="1"/>
          <p:nvPr/>
        </p:nvSpPr>
        <p:spPr>
          <a:xfrm>
            <a:off x="6492240" y="3749040"/>
            <a:ext cx="4846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2000"/>
              <a:buFont typeface="Calibri" panose="020F0502020204030204"/>
              <a:buNone/>
            </a:pPr>
            <a:r>
              <a:rPr lang="en-US" sz="2000" b="0" i="1" u="none" strike="noStrike" cap="none">
                <a:solidFill>
                  <a:srgbClr val="6B678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Зачем: [</a:t>
            </a:r>
            <a:r>
              <a:rPr lang="en-US" sz="2000" i="1">
                <a:solidFill>
                  <a:srgbClr val="6B678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Помогает изучать игры и адаптирует обучение</a:t>
            </a:r>
            <a:r>
              <a:rPr lang="en-US" sz="2000" b="0" i="1" u="none" strike="noStrike" cap="none">
                <a:solidFill>
                  <a:srgbClr val="6B678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]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1EE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6" name="Google Shape;46;p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7240" y="7772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"/>
          <p:cNvSpPr txBox="1"/>
          <p:nvPr/>
        </p:nvSpPr>
        <p:spPr>
          <a:xfrm>
            <a:off x="1645920" y="50292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400"/>
              <a:buFont typeface="Calibri" panose="020F0502020204030204"/>
              <a:buNone/>
            </a:pPr>
            <a:r>
              <a:rPr lang="en-US" sz="3400" b="1" i="0" u="none" strike="noStrike" cap="none">
                <a:solidFill>
                  <a:srgbClr val="312E8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Данные и результат</a:t>
            </a:r>
            <a:endParaRPr sz="3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1673352" y="123444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1600"/>
              <a:buFont typeface="Calibri" panose="020F0502020204030204"/>
              <a:buNone/>
            </a:pPr>
            <a:r>
              <a:rPr lang="en-US" sz="1600" b="0" i="1" u="none" strike="noStrike" cap="none">
                <a:solidFill>
                  <a:srgbClr val="6B678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Откуда данные и насколько модель лучше «глупого» baseline.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48640" y="214884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 cap="flat" cmpd="sng">
            <a:solidFill>
              <a:srgbClr val="B7ADE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" name="Google Shape;50;p3"/>
          <p:cNvSpPr txBox="1"/>
          <p:nvPr/>
        </p:nvSpPr>
        <p:spPr>
          <a:xfrm>
            <a:off x="822960" y="214884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2000"/>
              <a:buFont typeface="Calibri" panose="020F0502020204030204"/>
              <a:buNone/>
            </a:pPr>
            <a:r>
              <a:rPr lang="en-US" sz="2000" b="0" i="1" u="none" strike="noStrike" cap="none">
                <a:solidFill>
                  <a:srgbClr val="6B678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Датасет: [</a:t>
            </a:r>
            <a:r>
              <a:rPr lang="en-US" sz="2000" i="1">
                <a:solidFill>
                  <a:srgbClr val="6B678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Данные викторин и статистики Game Helper</a:t>
            </a:r>
            <a:r>
              <a:rPr lang="en-US" sz="2000" b="0" i="1" u="none" strike="noStrike" cap="none">
                <a:solidFill>
                  <a:srgbClr val="6B678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]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126480" y="214884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 cap="flat" cmpd="sng">
            <a:solidFill>
              <a:srgbClr val="B7ADE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" name="Google Shape;52;p3"/>
          <p:cNvSpPr txBox="1"/>
          <p:nvPr/>
        </p:nvSpPr>
        <p:spPr>
          <a:xfrm>
            <a:off x="6400800" y="214884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2000"/>
              <a:buFont typeface="Calibri" panose="020F0502020204030204"/>
              <a:buNone/>
            </a:pPr>
            <a:r>
              <a:rPr lang="en-US" sz="2000" b="0" i="1" u="none" strike="noStrike" cap="none">
                <a:solidFill>
                  <a:srgbClr val="6B678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Метрика: Accuracy (точность классификации)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48640" y="3429000"/>
            <a:ext cx="5257800" cy="2331720"/>
          </a:xfrm>
          <a:prstGeom prst="roundRect">
            <a:avLst>
              <a:gd name="adj" fmla="val 5490"/>
            </a:avLst>
          </a:prstGeom>
          <a:solidFill>
            <a:srgbClr val="F8F7FD"/>
          </a:solidFill>
          <a:ln>
            <a:noFill/>
          </a:ln>
          <a:effectLst>
            <a:outerShdw blurRad="101600" dist="38100" dir="5400000" algn="bl" rotWithShape="0">
              <a:srgbClr val="312E81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Google Shape;54;p3"/>
          <p:cNvSpPr txBox="1"/>
          <p:nvPr/>
        </p:nvSpPr>
        <p:spPr>
          <a:xfrm>
            <a:off x="548640" y="3703320"/>
            <a:ext cx="5257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1900"/>
              <a:buFont typeface="Calibri" panose="020F0502020204030204"/>
              <a:buNone/>
            </a:pPr>
            <a:r>
              <a:rPr lang="en-US" sz="1900" b="1" i="0" u="none" strike="noStrike" cap="none">
                <a:solidFill>
                  <a:srgbClr val="6B678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Baseline</a:t>
            </a:r>
            <a:endParaRPr sz="1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548640" y="4160520"/>
            <a:ext cx="5257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5200"/>
              <a:buFont typeface="Calibri" panose="020F0502020204030204"/>
              <a:buNone/>
            </a:pPr>
            <a:r>
              <a:rPr lang="en-US" sz="5200" b="1" i="0" u="none" strike="noStrike" cap="none">
                <a:solidFill>
                  <a:srgbClr val="312E8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[]</a:t>
            </a:r>
            <a:endParaRPr sz="5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355080" y="3429000"/>
            <a:ext cx="5257800" cy="2331720"/>
          </a:xfrm>
          <a:prstGeom prst="roundRect">
            <a:avLst>
              <a:gd name="adj" fmla="val 5490"/>
            </a:avLst>
          </a:prstGeom>
          <a:solidFill>
            <a:srgbClr val="F1EEFC"/>
          </a:solidFill>
          <a:ln>
            <a:noFill/>
          </a:ln>
          <a:effectLst>
            <a:outerShdw blurRad="101600" dist="38100" dir="5400000" algn="bl" rotWithShape="0">
              <a:srgbClr val="312E81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" name="Google Shape;57;p3"/>
          <p:cNvSpPr txBox="1"/>
          <p:nvPr/>
        </p:nvSpPr>
        <p:spPr>
          <a:xfrm>
            <a:off x="6355080" y="3703320"/>
            <a:ext cx="5257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900"/>
              <a:buFont typeface="Calibri" panose="020F0502020204030204"/>
              <a:buNone/>
            </a:pPr>
            <a:r>
              <a:rPr lang="en-US" sz="1900" b="1" i="0" u="none" strike="noStrike" cap="none">
                <a:solidFill>
                  <a:srgbClr val="7C3AE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Моя модель</a:t>
            </a:r>
            <a:endParaRPr sz="1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6355080" y="4160520"/>
            <a:ext cx="5257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5200"/>
              <a:buFont typeface="Calibri" panose="020F0502020204030204"/>
              <a:buNone/>
            </a:pPr>
            <a:r>
              <a:rPr lang="en-US" sz="5200" b="1" i="0" u="none" strike="noStrike" cap="none">
                <a:solidFill>
                  <a:srgbClr val="312E8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</a:t>
            </a:r>
            <a:r>
              <a:rPr lang="en-US" sz="5200" b="1">
                <a:solidFill>
                  <a:srgbClr val="312E8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Decision Tree Classifier</a:t>
            </a:r>
            <a:r>
              <a:rPr lang="en-US" sz="5200" b="1" i="0" u="none" strike="noStrike" cap="none">
                <a:solidFill>
                  <a:srgbClr val="312E8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]</a:t>
            </a:r>
            <a:endParaRPr sz="5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5669280" y="3429000"/>
            <a:ext cx="685800" cy="23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3200"/>
              <a:buFont typeface="Calibri" panose="020F0502020204030204"/>
              <a:buNone/>
            </a:pPr>
            <a:r>
              <a:rPr lang="en-US" sz="3200" b="1" i="0" u="none" strike="noStrike" cap="none">
                <a:solidFill>
                  <a:srgbClr val="0891B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→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/>
          <p:nvPr/>
        </p:nvSpPr>
        <p:spPr>
          <a:xfrm>
            <a:off x="548640" y="548640"/>
            <a:ext cx="914400" cy="914400"/>
          </a:xfrm>
          <a:prstGeom prst="ellipse">
            <a:avLst/>
          </a:prstGeom>
          <a:solidFill>
            <a:srgbClr val="F1EE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6" name="Google Shape;66;p4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7240" y="7772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 txBox="1"/>
          <p:nvPr/>
        </p:nvSpPr>
        <p:spPr>
          <a:xfrm>
            <a:off x="1645920" y="50292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400"/>
              <a:buFont typeface="Calibri" panose="020F0502020204030204"/>
              <a:buNone/>
            </a:pPr>
            <a:r>
              <a:rPr lang="en-US" sz="3400" b="1" i="0" u="none" strike="noStrike" cap="none">
                <a:solidFill>
                  <a:srgbClr val="312E8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Демо</a:t>
            </a:r>
            <a:endParaRPr sz="3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1645927" y="1234440"/>
            <a:ext cx="10058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1600"/>
              <a:buFont typeface="Calibri" panose="020F0502020204030204"/>
              <a:buNone/>
            </a:pPr>
            <a:r>
              <a:rPr lang="en-US" sz="1600" b="0" i="1" u="none" strike="noStrike" cap="none">
                <a:solidFill>
                  <a:srgbClr val="6B678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Скриншот приложения. На защите дай нажать кнопку родителю!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48590" y="2146620"/>
            <a:ext cx="11064300" cy="4023300"/>
          </a:xfrm>
          <a:prstGeom prst="roundRect">
            <a:avLst>
              <a:gd name="adj" fmla="val 2273"/>
            </a:avLst>
          </a:prstGeom>
          <a:solidFill>
            <a:srgbClr val="F8F7FD"/>
          </a:solidFill>
          <a:ln w="22225" cap="flat" cmpd="sng">
            <a:solidFill>
              <a:srgbClr val="B7ADE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0" name="Google Shape;70;p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623560" y="347472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"/>
          <p:cNvSpPr txBox="1"/>
          <p:nvPr/>
        </p:nvSpPr>
        <p:spPr>
          <a:xfrm>
            <a:off x="1463040" y="4663440"/>
            <a:ext cx="9235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786"/>
              </a:buClr>
              <a:buSzPts val="1800"/>
              <a:buFont typeface="Calibri" panose="020F0502020204030204"/>
              <a:buNone/>
            </a:pPr>
            <a:r>
              <a:rPr lang="en-US" sz="1800" b="0" i="1" u="none" strike="noStrike" cap="none">
                <a:solidFill>
                  <a:srgbClr val="6B678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СЮДА — скриншот Telegram-бота Game Helper MAX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" name="Picture 2" descr="Screenshot (57)"/>
          <p:cNvPicPr>
            <a:picLocks noChangeAspect="1"/>
          </p:cNvPicPr>
          <p:nvPr/>
        </p:nvPicPr>
        <p:blipFill>
          <a:blip r:embed="rId3"/>
          <a:srcRect l="6090" t="13986" r="-1126" b="7261"/>
          <a:stretch>
            <a:fillRect/>
          </a:stretch>
        </p:blipFill>
        <p:spPr>
          <a:xfrm>
            <a:off x="548640" y="2146935"/>
            <a:ext cx="6176645" cy="4022090"/>
          </a:xfrm>
          <a:prstGeom prst="rect">
            <a:avLst/>
          </a:prstGeom>
        </p:spPr>
      </p:pic>
      <p:pic>
        <p:nvPicPr>
          <p:cNvPr id="4" name="Picture 3" descr="Screenshot (59)"/>
          <p:cNvPicPr>
            <a:picLocks noChangeAspect="1"/>
          </p:cNvPicPr>
          <p:nvPr/>
        </p:nvPicPr>
        <p:blipFill>
          <a:blip r:embed="rId4"/>
          <a:srcRect l="6377" t="43697" r="16916" b="5891"/>
          <a:stretch>
            <a:fillRect/>
          </a:stretch>
        </p:blipFill>
        <p:spPr>
          <a:xfrm>
            <a:off x="4496435" y="2146935"/>
            <a:ext cx="7074535" cy="4022725"/>
          </a:xfrm>
          <a:prstGeom prst="rect">
            <a:avLst/>
          </a:prstGeom>
        </p:spPr>
      </p:pic>
      <p:pic>
        <p:nvPicPr>
          <p:cNvPr id="5" name="Picture 4" descr="Screenshot (63)"/>
          <p:cNvPicPr>
            <a:picLocks noChangeAspect="1"/>
          </p:cNvPicPr>
          <p:nvPr/>
        </p:nvPicPr>
        <p:blipFill>
          <a:blip r:embed="rId5"/>
          <a:srcRect l="5689" t="22691" r="67132" b="6937"/>
          <a:stretch>
            <a:fillRect/>
          </a:stretch>
        </p:blipFill>
        <p:spPr>
          <a:xfrm>
            <a:off x="7174230" y="2146935"/>
            <a:ext cx="3312795" cy="4022725"/>
          </a:xfrm>
          <a:prstGeom prst="rect">
            <a:avLst/>
          </a:prstGeom>
        </p:spPr>
      </p:pic>
      <p:pic>
        <p:nvPicPr>
          <p:cNvPr id="6" name="Picture 5" descr="Screenshot (61)"/>
          <p:cNvPicPr>
            <a:picLocks noChangeAspect="1"/>
          </p:cNvPicPr>
          <p:nvPr/>
        </p:nvPicPr>
        <p:blipFill>
          <a:blip r:embed="rId6"/>
          <a:srcRect l="8862" t="61962" r="77551" b="7576"/>
          <a:stretch>
            <a:fillRect/>
          </a:stretch>
        </p:blipFill>
        <p:spPr>
          <a:xfrm>
            <a:off x="2493645" y="2204720"/>
            <a:ext cx="1656080" cy="2088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4B"/>
        </a:solidFill>
        <a:effectLst/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" name="Google Shape;78;p5"/>
          <p:cNvSpPr txBox="1"/>
          <p:nvPr/>
        </p:nvSpPr>
        <p:spPr>
          <a:xfrm>
            <a:off x="640080" y="82296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 panose="020F0502020204030204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Выводы</a:t>
            </a:r>
            <a:endParaRPr sz="3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40080" y="19659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A2660"/>
          </a:solidFill>
          <a:ln w="22225" cap="flat" cmpd="sng">
            <a:solidFill>
              <a:srgbClr val="7C3AE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" name="Google Shape;80;p5"/>
          <p:cNvSpPr txBox="1"/>
          <p:nvPr/>
        </p:nvSpPr>
        <p:spPr>
          <a:xfrm>
            <a:off x="914400" y="1965960"/>
            <a:ext cx="10332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2000"/>
              <a:buFont typeface="Calibri" panose="020F0502020204030204"/>
              <a:buNone/>
            </a:pPr>
            <a:r>
              <a:rPr>
                <a:solidFill>
                  <a:schemeClr val="bg1">
                    <a:lumMod val="95000"/>
                  </a:schemeClr>
                </a:solidFill>
              </a:rPr>
              <a:t>Что получилось: Создать Telegram-бота Game Helper MAX с 3 играми, 30 гайдами, 90 вопросами, XP, уровнями, адаптивной викториной, ML-анализом и рекомендациями.</a:t>
            </a:r>
            <a:endParaRPr sz="2000" b="0" i="0" u="none" strike="noStrike" cap="none">
              <a:solidFill>
                <a:schemeClr val="bg1">
                  <a:lumMod val="95000"/>
                </a:scheme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40080" y="30175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A2660"/>
          </a:solidFill>
          <a:ln w="22225" cap="flat" cmpd="sng">
            <a:solidFill>
              <a:srgbClr val="7C3AE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5"/>
          <p:cNvSpPr txBox="1"/>
          <p:nvPr/>
        </p:nvSpPr>
        <p:spPr>
          <a:xfrm>
            <a:off x="914400" y="3017520"/>
            <a:ext cx="10332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2000"/>
              <a:buFont typeface="Calibri" panose="020F0502020204030204"/>
              <a:buNone/>
            </a:pPr>
            <a:r>
              <a:rPr>
                <a:solidFill>
                  <a:schemeClr val="bg1">
                    <a:lumMod val="95000"/>
                  </a:schemeClr>
                </a:solidFill>
              </a:rPr>
              <a:t>Что было сложно: Объединить Telegram-интерфейс, сохранение прогресса, викторину и ML-анализ в одной системе.</a:t>
            </a:r>
            <a:endParaRPr sz="2000" b="0" i="0" u="none" strike="noStrike" cap="none">
              <a:solidFill>
                <a:schemeClr val="bg1">
                  <a:lumMod val="95000"/>
                </a:scheme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40080" y="406908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A2660"/>
          </a:solidFill>
          <a:ln w="22225" cap="flat" cmpd="sng">
            <a:solidFill>
              <a:srgbClr val="7C3AE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" name="Google Shape;84;p5"/>
          <p:cNvSpPr txBox="1"/>
          <p:nvPr/>
        </p:nvSpPr>
        <p:spPr>
          <a:xfrm>
            <a:off x="909955" y="4076700"/>
            <a:ext cx="10332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2000"/>
              <a:buFont typeface="Calibri" panose="020F0502020204030204"/>
              <a:buNone/>
            </a:pPr>
            <a:r>
              <a:rPr>
                <a:solidFill>
                  <a:schemeClr val="bg1">
                    <a:lumMod val="95000"/>
                  </a:schemeClr>
                </a:solidFill>
              </a:rPr>
              <a:t>Что улучшу дальше: Добавлю новые игры и вопросы, расширю ML-анализ и сделаю рекомендации точнее.</a:t>
            </a:r>
            <a:endParaRPr sz="2000" b="0" i="0" u="none" strike="noStrike" cap="none">
              <a:solidFill>
                <a:schemeClr val="bg1">
                  <a:lumMod val="95000"/>
                </a:schemeClr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85" name="Google Shape;85;p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58368" y="5669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 txBox="1"/>
          <p:nvPr/>
        </p:nvSpPr>
        <p:spPr>
          <a:xfrm>
            <a:off x="1234440" y="56235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 panose="020F0502020204030204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Спасибо! Готов ответить на вопросы.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1057</Words>
  <Application>WPS Presentation</Application>
  <PresentationFormat/>
  <Paragraphs>52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PptxGenJS</dc:creator>
  <cp:lastModifiedBy>Юсуфходжа Мухам�</cp:lastModifiedBy>
  <cp:revision>2</cp:revision>
  <dcterms:created xsi:type="dcterms:W3CDTF">2026-09-26T16:48:00Z</dcterms:created>
  <dcterms:modified xsi:type="dcterms:W3CDTF">2026-09-27T06:21:29Z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8E00F3C5FA284FF19B07D1C20B867A06_12</vt:lpwstr>
  </property>
</Properties>
</file>